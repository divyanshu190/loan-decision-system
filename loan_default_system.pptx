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DD2-5043-8B01-CB157DAAD4F6}"/>
              </c:ext>
            </c:extLst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D2-5043-8B01-CB157DAAD4F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1182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Repaid (0)</c:v>
                </c:pt>
                <c:pt idx="1">
                  <c:v>Default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139974</c:v>
                </c:pt>
                <c:pt idx="1">
                  <c:v>10026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DD2-5043-8B01-CB157DAAD4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144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011680"/>
            <a:ext cx="3657600" cy="365760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22860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ML CREDIT RISK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Loan Default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Decision System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PS-9  |  Give Me Some Credit </a:t>
            </a:r>
            <a:r>
              <a:rPr lang="en-US" sz="1400" i="1">
                <a:solidFill>
                  <a:srgbClr val="CADCFC"/>
                </a:solidFill>
              </a:rPr>
              <a:t>Dataset 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Stacking Ensemble · Cost-Optimized Threshold · Anomaly Detection 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42EA13-88F1-02BF-7AE2-23D08AA44600}"/>
              </a:ext>
            </a:extLst>
          </p:cNvPr>
          <p:cNvSpPr txBox="1"/>
          <p:nvPr/>
        </p:nvSpPr>
        <p:spPr>
          <a:xfrm>
            <a:off x="5448925" y="42796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Loan Default Decision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The Challenge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Banks must assess thousands of credit applications daily with incomplete, noisy real-world data.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Approving a defaulter (False Negative) costs far more than rejecting a good applicant (False Positive). Standard ML models treat errors equally — a critical mismatch for banking.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Real data also contains missing values, impossible entries, fake applications, and class imbalance (~7% default rate) — all of which must be handled before modeling.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82296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77840" y="822960"/>
            <a:ext cx="310896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932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172200" y="9326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Asymmetric Costs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2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FN costs 5× more than FP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214884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2148840"/>
            <a:ext cx="31089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72200" y="2258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Data Quality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Missing, corrupt, fake 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347472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77840" y="3474720"/>
            <a:ext cx="31089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3584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72200" y="3584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Class Imbalance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3931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~7% default rate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Dataset: Give Me Some Credit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Loan Default Decision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64008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68680"/>
            <a:ext cx="17373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150K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737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Credit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77724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77724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868680"/>
            <a:ext cx="17373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10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60320" y="1463040"/>
            <a:ext cx="1737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Numeric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77724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777240"/>
            <a:ext cx="64008" cy="1143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68680"/>
            <a:ext cx="17373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</a:rPr>
              <a:t>~7%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09160" y="1463040"/>
            <a:ext cx="1737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Default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77724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777240"/>
            <a:ext cx="64008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868680"/>
            <a:ext cx="17373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</a:rPr>
              <a:t>Kaggle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58000" y="1463040"/>
            <a:ext cx="1737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Competition 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Feature Overview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14600"/>
          <a:ext cx="8412480" cy="2438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RevolvingUtilizationOfUnsecuredLines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Ratio of revolving credit used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Applicant age (18–100)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NumberOfTime30-59DaysPastDueNotWorse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Late payments 30–59 days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DebtRatio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Monthly debt / monthly income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MonthlyIncome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Gross monthly income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NumberOfOpenCreditLinesAndLoans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Total open credit accounts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NumberOfTimes90DaysLate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Serious delinquency count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NumberRealEstateLoansOrLines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Mortgage/real-estate lines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NumberOfDependents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Financial dependents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36576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Target: SeriousDlqin2yrs — 1 = defaulted within 2 years, 0 = repaid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System Architecture — End-to-End Pipeline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Loan Default Decision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86868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cs-training.csv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28600" y="12161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11827"/>
                </a:solidFill>
              </a:rPr>
              <a:t>150K records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" y="1188720"/>
            <a:ext cx="6400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1288" y="868680"/>
            <a:ext cx="868680" cy="640080"/>
          </a:xfrm>
          <a:prstGeom prst="rect">
            <a:avLst/>
          </a:prstGeom>
          <a:solidFill>
            <a:srgbClr val="02C39A">
              <a:alpha val="9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9144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Validation &amp; Cleaning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61288" y="12161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11827"/>
                </a:solidFill>
              </a:rPr>
              <a:t>validator.py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29968" y="1188720"/>
            <a:ext cx="6400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93976" y="868680"/>
            <a:ext cx="868680" cy="64008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93976" y="9144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Missingness Indicators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93976" y="12161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11827"/>
                </a:solidFill>
              </a:rPr>
              <a:t>Signal extraction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62656" y="1188720"/>
            <a:ext cx="6400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26664" y="868680"/>
            <a:ext cx="868680" cy="64008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26664" y="9144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Preprocessing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26664" y="12161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11827"/>
                </a:solidFill>
              </a:rPr>
              <a:t>Impute → Scale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95344" y="1188720"/>
            <a:ext cx="6400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59352" y="868680"/>
            <a:ext cx="868680" cy="640080"/>
          </a:xfrm>
          <a:prstGeom prst="rect">
            <a:avLst/>
          </a:prstGeom>
          <a:solidFill>
            <a:srgbClr val="F9E795">
              <a:alpha val="90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59352" y="9144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SMOTE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959352" y="12161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11827"/>
                </a:solidFill>
              </a:rPr>
              <a:t>Balance classes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28032" y="1188720"/>
            <a:ext cx="6400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868680"/>
            <a:ext cx="868680" cy="640080"/>
          </a:xfrm>
          <a:prstGeom prst="rect">
            <a:avLst/>
          </a:prstGeom>
          <a:solidFill>
            <a:srgbClr val="F96167">
              <a:alpha val="9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9144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Ensemble Training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12161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11827"/>
                </a:solidFill>
              </a:rPr>
              <a:t>XGB + LGBM + DT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60720" y="1188720"/>
            <a:ext cx="6400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24728" y="868680"/>
            <a:ext cx="868680" cy="640080"/>
          </a:xfrm>
          <a:prstGeom prst="rect">
            <a:avLst/>
          </a:prstGeom>
          <a:solidFill>
            <a:srgbClr val="3B82F6">
              <a:alpha val="9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24728" y="9144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Meta-Learner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24728" y="12161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11827"/>
                </a:solidFill>
              </a:rPr>
              <a:t>Logistic Regression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93408" y="1188720"/>
            <a:ext cx="6400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57416" y="868680"/>
            <a:ext cx="868680" cy="640080"/>
          </a:xfrm>
          <a:prstGeom prst="rect">
            <a:avLst/>
          </a:prstGeom>
          <a:solidFill>
            <a:srgbClr val="02C39A">
              <a:alpha val="9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57416" y="9144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Threshold Optimization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57416" y="12161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11827"/>
                </a:solidFill>
              </a:rPr>
              <a:t>Cost matrix 5:1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626096" y="1188720"/>
            <a:ext cx="6400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90104" y="868680"/>
            <a:ext cx="868680" cy="640080"/>
          </a:xfrm>
          <a:prstGeom prst="rect">
            <a:avLst/>
          </a:prstGeom>
          <a:solidFill>
            <a:srgbClr val="02C39A">
              <a:alpha val="9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90104" y="9144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APPROVE / REJECT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690104" y="12161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11827"/>
                </a:solidFill>
              </a:rPr>
              <a:t>+ Risk factors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0" y="1920240"/>
            <a:ext cx="2560320" cy="1280160"/>
          </a:xfrm>
          <a:prstGeom prst="rect">
            <a:avLst/>
          </a:prstGeom>
          <a:solidFill>
            <a:srgbClr val="1F2937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</a:rPr>
              <a:t>Anomaly Detection Branch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37560" y="2267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Train IsolationForest on legit data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37560" y="2523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Score new application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37560" y="2779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Flag if anomaly_score &lt; −0.05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80560" y="1508760"/>
            <a:ext cx="0" cy="411480"/>
          </a:xfrm>
          <a:prstGeom prst="line">
            <a:avLst/>
          </a:prstGeom>
          <a:noFill/>
          <a:ln w="19050">
            <a:solidFill>
              <a:srgbClr val="F96167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420624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</a:rPr>
              <a:t>⚠ SUSPICIOUS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" y="3246120"/>
            <a:ext cx="868680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383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Prediction Response  →  decision · default_prob · confidence · risk_factors · warnings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65760" y="38404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"decision": "APPROVE", "default_prob": 0.041, "confidence": "HIGH", "risk_factors": ["Profile meets all standard criteria"], "warnings": [] 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 Validation Layer — validator.py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Loan Default Decision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6-Layer Quality Firewall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2704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Type Coercion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83794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"30" → 30  |  "bad_val" → NaN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71576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Range 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30266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age=999 → NaN  |  DebtRatio=9999 → NaN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41732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52704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30752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Missingness Audit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30752" y="183794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Count, categorize (MCAR vs MNAR)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60604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71576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30752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Cross-Field Checks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30752" y="30266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age=19 &amp; 20 credit lines → suspicious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141732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527048"/>
            <a:ext cx="347472" cy="3474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65392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Fake-Data Heuristics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65392" y="183794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Round-number detection · perfect profile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260604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715768"/>
            <a:ext cx="347472" cy="3474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65392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Hard Reject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65392" y="30266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&gt;50% fields missing → refuse prediction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840480"/>
            <a:ext cx="8412480" cy="73152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886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</a:rPr>
              <a:t>Dataset Artifact: Values 96 and 98 in delinquency count fields are known placeholder values in cs-training.csv — automatically nulled during 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Handling Class Imbalance — SMOTE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Loan Default Decision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With only ~7% defaults, a model that always predicts 'repaid' achieves 93% accuracy yet is completely useless for detecting risk. We need a technique that forces the model to learn from the rare class.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SMOTE Solution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Synthetic Minority Over-sampling Technique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Creates synthetic default samples by interpolating between existing ones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Applied ONLY to training data — no leakage into test set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Trains the stacking ensemble on balanced classes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777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Class Distribution</a:t>
            </a:r>
            <a:endParaRPr lang="en-US" sz="16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572000" y="118872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</a:rPr>
              <a:t>After SMOTE: equal representation of both classes in training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Stacking Ensemble — Three Models + Meta-Learner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Loan Default Decision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651760" cy="2423160"/>
          </a:xfrm>
          <a:prstGeom prst="rect">
            <a:avLst/>
          </a:prstGeom>
          <a:solidFill>
            <a:srgbClr val="1F293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XGBoost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</a:rPr>
              <a:t>500 trees · depth 6 · lr 0.05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Best-in-class for tabular credit data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Captures non-linear feature interactions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e.g. high utilization AND late payments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651760" cy="2423160"/>
          </a:xfrm>
          <a:prstGeom prst="rect">
            <a:avLst/>
          </a:prstGeom>
          <a:solidFill>
            <a:srgbClr val="1F2937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777240"/>
            <a:ext cx="26517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LightGBM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46120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</a:rPr>
              <a:t>1000 trees · depth 7 · lr 0.03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627632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Faster leaf-wise growth strategy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Finds tighter decision boundaries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Complements XGBoost's errors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777240"/>
            <a:ext cx="2651760" cy="2423160"/>
          </a:xfrm>
          <a:prstGeom prst="rect">
            <a:avLst/>
          </a:prstGeom>
          <a:solidFill>
            <a:srgbClr val="1F2937"/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777240"/>
            <a:ext cx="2651760" cy="4572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Decision Tree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26480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</a:rPr>
              <a:t>Max depth 5 · min samples 200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1627632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Fully interpretable rules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Directly satisfies PS-9 requirement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</a:rPr>
              <a:t>Printed to console after training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3227832"/>
            <a:ext cx="0" cy="2743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3520440"/>
            <a:ext cx="4572000" cy="68580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35204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</a:rPr>
              <a:t>Meta-Learner: Logistic Regression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28600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</a:rPr>
              <a:t>Learns optimal weighting of base model probabilities · pass_through=True preserves raw features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9E795"/>
                </a:solidFill>
              </a:rPr>
              <a:t>Each base model makes DIFFERENT errors. Stacking corrects errors the others miss.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Cost-Optimized Decision Threshold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Loan Default Decision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Why Not Use 0.5?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A default threshold of 0.5 treats all prediction errors as equal. In lending, a missed default costs far more than an incorrectly rejected applicant. We use a cost matrix to find the optimal threshold.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Business Cost Matrix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16352"/>
          <a:ext cx="4114800" cy="1158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Error Type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 Weight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False Negative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Approved a defaulter (missed risk)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</a:rPr>
                        <a:t>5.0×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False Positive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Rejected a good applicant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1.0×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457200" y="3840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Optimal threshold: ~0.18 (trained on precision-recall curve weighted by cost matrix)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777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Model Performance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754880" y="132588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325880"/>
            <a:ext cx="64008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4173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~0.86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892040" y="1764792"/>
            <a:ext cx="374904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ROC-AUC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19456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2194560"/>
            <a:ext cx="64008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22860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~0.35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4892040" y="2633472"/>
            <a:ext cx="374904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Avg Precision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306324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3063240"/>
            <a:ext cx="64008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31546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</a:rPr>
              <a:t>~0.18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892040" y="3502152"/>
            <a:ext cx="374904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Decision Threshold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0" y="393192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3931920"/>
            <a:ext cx="64008" cy="7315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92040" y="40233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B7280"/>
                </a:solidFill>
              </a:rPr>
              <a:t>5-fold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4892040" y="4370832"/>
            <a:ext cx="374904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CV Folds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Anomaly Detection — IsolationForest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Loan Default Decision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</a:rPr>
              <a:t>Detecting Fake Applications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Real credit bureaus (Equifax, Experian) use unsupervised anomaly detection as a first-pass filter before scoring models run. We replicate this with IsolationForest.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Train IsolationForest on LEGITIMATE (non-default) records only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Learns the distribution of real applications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Score new application at prediction time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anomaly_score &lt; −0.05 → flag as SUSPICIOUS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200 trees, 2% contamination assumption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3931920" cy="4114800"/>
          </a:xfrm>
          <a:prstGeom prst="rect">
            <a:avLst/>
          </a:prstGeom>
          <a:solidFill>
            <a:srgbClr val="1F2937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822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</a:rPr>
              <a:t>Deterministic Fraud Checks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325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Age too low for # of open credit lines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(min 2.5 yrs per line needed)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83480" y="1737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Age &lt; 25 with 3+ real-estate loans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2148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Zero income + high credit utilization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+ many open lines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2560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DebtRatio = 0 but utilization &gt; 80%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29718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Age &lt; 22 with income &gt; $25K/month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3383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All-round-number financials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(fabricated data signal)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3794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Zero delinquencies + zero ratios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</a:rPr>
              <a:t>+ very high income (rare profile)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Preprocessing — Imputation, Scaling &amp; Missingness Features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Loan Default Decision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22960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Median Imputation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388620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Replaces missing numeric values with column median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Robust to outliers (vs mean imputation)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Computed on training data, applied to test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41148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822960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Standard Scaling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261872"/>
            <a:ext cx="388620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Zero-mean, unit-variance transformation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Ensures no feature dominates by magnitude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Required for Logistic Regression meta-learner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43200"/>
            <a:ext cx="4114800" cy="38404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743200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Missingness Indicators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182112"/>
            <a:ext cx="388620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Binary flag: 1 = value was missing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Missing income is a strong risk signal (MNAR)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Added BEFORE imputation to preserve signal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743200"/>
            <a:ext cx="411480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Column Drop Rule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182112"/>
            <a:ext cx="388620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&gt;60% missing → drop column entirely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Prevents imputation-dominated features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Logged as warning during training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</a:rPr>
              <a:t>ColumnTransformer applies: numeric pipeline (impute→scale) | categorical pipeline (impute→encode) | indicator pass-through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Explainability — PS-9 Requirement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Loan Default Decision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How Does the Model Decide?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029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Decision Tree (Top 3 Levels)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|--- RevolvingUtilization &lt;= 0.90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|--- NumberOfTimes90DaysLate &lt;= 0.50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|--- class: 0 (Repaid)  ← APPROVE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|--- NumberOfTimes90DaysLate &gt; 0.50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|--- class: 1 (Default) ← REJECT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|--- RevolvingUtilization &gt; 0.90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|--- age &lt;= 36.50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|--- class: 1 (Default) ← REJECT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|--- age &gt; 36.50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   |--- class: 0 (Repaid)  ← APPROVE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XGBoost Feature Importance (Gain)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17556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RevolvingUtilization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69480" y="1810512"/>
            <a:ext cx="155448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1810512"/>
            <a:ext cx="1430122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23960" y="1755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92%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0" y="21396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NumberOf 90DaysLate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2194560"/>
            <a:ext cx="155448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2194560"/>
            <a:ext cx="121249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21396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78%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25237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69480" y="2578608"/>
            <a:ext cx="155448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9480" y="2578608"/>
            <a:ext cx="8549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0" y="25237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55%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0" y="2907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MonthlyIncome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69480" y="2962656"/>
            <a:ext cx="155448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2962656"/>
            <a:ext cx="652882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2907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42%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NumberOf 30-59DaysPDue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69480" y="3346704"/>
            <a:ext cx="155448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9480" y="3346704"/>
            <a:ext cx="5440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23960" y="3291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35%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69280" y="36758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DebtRatio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69480" y="3730752"/>
            <a:ext cx="155448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69480" y="3730752"/>
            <a:ext cx="43525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3960" y="3675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28%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0" y="40599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OpenCreditLines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69480" y="4114800"/>
            <a:ext cx="155448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69480" y="4114800"/>
            <a:ext cx="310896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23960" y="40599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20%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553712"/>
            <a:ext cx="8412480" cy="41148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5537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PS-9: Decision Tree printed to console (top 3 levels) + XGBoost gain ranking logged after every training run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Prediction Engine — predict.py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Loan Default Decision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</a:rPr>
              <a:t>What Happens on Every Prediction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36245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62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12984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Validate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129844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validate_single_row() — type coerce, range check, cross-field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347472" cy="3474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8196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Anomaly Score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18196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IsolationForest scores the application — flag if &lt; −0.05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04872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23408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234086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Preprocessor → StackingClassifier → predict_proba()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347472" cy="347472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2862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Apply Threshold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80360" y="286207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default_prob &gt;= threshold → REJECT else APPROVE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447288"/>
            <a:ext cx="347472" cy="34747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3383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Extract Risk Factors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80360" y="33832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Rule-based: late payments, high utilization, missing income…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968496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" y="39044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Return Response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80360" y="390448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decision + default_prob + confidence + risk_factors + warnings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434840"/>
            <a:ext cx="8412480" cy="530352"/>
          </a:xfrm>
          <a:prstGeom prst="rect">
            <a:avLst/>
          </a:prstGeom>
          <a:solidFill>
            <a:srgbClr val="1F2937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622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E795"/>
                </a:solidFill>
              </a:rPr>
              <a:t>Confidence: HIGH if |prob − threshold| &gt; 0.15 · MEDIUM if &gt; 0.07 · LOW otherwise  |  batch predict via predict_batch()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REST API — api/app.py (Flask)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Loan Default Decision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Endpoints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307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52704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Liveness check — returns {status: ok}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64008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202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21284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Single applicant → APPROVE/REJECT + risk factors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06040"/>
            <a:ext cx="64008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060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679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/predict/batch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89864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CSV upload → summary stats + per-row results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Sample Request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2219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http://localhost:5001/predict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'{"RevolvingUtilizationOfUnsecuredLines": 0.05, "age": 35,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"MonthlyIncome": 8000, "DebtRatio": 0.10, ...}'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Production-Grade Engineering — Problems Handled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Loan Default Decision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54864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Missing numeric values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2336" y="11064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Median imputation (training set fit only)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54864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822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Wrong data type in field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37176" y="11064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pd.to_numeric(errors='coerce') → NaN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002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600200"/>
            <a:ext cx="54864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1645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Physically impossible value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2336" y="1929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Range-validated → nulled (age=999 → NaN)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6002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600200"/>
            <a:ext cx="54864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1645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Dataset artifact 96/98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37176" y="1929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Hard-coded detection → null (known CSV issue)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4231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423160"/>
            <a:ext cx="54864" cy="685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2468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&gt;50% of row missing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02336" y="27523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Hard reject: ValidationError raised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4231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423160"/>
            <a:ext cx="54864" cy="685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7176" y="2468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Class imbalance (7% default)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37176" y="27523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SMOTE oversampling — training data only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24612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246120"/>
            <a:ext cx="54864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3291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Asymmetric error costs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02336" y="35753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Cost-matrix threshold optimization (FN=5×FP)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24612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246120"/>
            <a:ext cx="54864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37176" y="3291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Fake / fabricated data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37176" y="35753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IsolationForest + 7 deterministic fraud checks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06908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4069080"/>
            <a:ext cx="54864" cy="6858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4114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Decision explainability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02336" y="43982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Rule-based risk factor extraction per prediction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406908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4069080"/>
            <a:ext cx="54864" cy="6858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37176" y="4114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PS-9 interpretability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37176" y="43982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Decision Tree visualization + feature importance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</a:rPr>
              <a:t>System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23360" cy="804672"/>
          </a:xfrm>
          <a:prstGeom prst="rect">
            <a:avLst/>
          </a:prstGeom>
          <a:solidFill>
            <a:srgbClr val="1E3A5F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33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353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150K records · 10 features · ~7% default 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023360" cy="804672"/>
          </a:xfrm>
          <a:prstGeom prst="rect">
            <a:avLst/>
          </a:prstGeom>
          <a:solidFill>
            <a:srgbClr val="1E3A5F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6012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94960" y="1033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353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6-layer firewall · cross-field fraud detection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4023360" cy="804672"/>
          </a:xfrm>
          <a:prstGeom prst="rect">
            <a:avLst/>
          </a:prstGeom>
          <a:solidFill>
            <a:srgbClr val="1E3A5F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6596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039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359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XGBoost + LightGBM + Decision Tree → LR stacking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965960"/>
            <a:ext cx="4023360" cy="804672"/>
          </a:xfrm>
          <a:prstGeom prst="rect">
            <a:avLst/>
          </a:prstGeom>
          <a:solidFill>
            <a:srgbClr val="1E3A5F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96596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2039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Threshold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2359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Cost-optimized (FN=5×FP) · ROC-AUC ~0.86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4023360" cy="804672"/>
          </a:xfrm>
          <a:prstGeom prst="rect">
            <a:avLst/>
          </a:prstGeom>
          <a:solidFill>
            <a:srgbClr val="1E3A5F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97180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3044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Anomaly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364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IsolationForest trained on legitimate records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971800"/>
            <a:ext cx="4023360" cy="804672"/>
          </a:xfrm>
          <a:prstGeom prst="rect">
            <a:avLst/>
          </a:prstGeom>
          <a:solidFill>
            <a:srgbClr val="1E3A5F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97180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3044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3364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Flask REST · /predict + /predict/batch endpoints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05072"/>
            <a:ext cx="8229600" cy="868680"/>
          </a:xfrm>
          <a:prstGeom prst="rect">
            <a:avLst/>
          </a:prstGeom>
          <a:solidFill>
            <a:srgbClr val="11182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41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Quick Start: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3708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  →  python train.py --data cs-training.csv  →  python api/app.py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1659</Words>
  <Application>Microsoft Macintosh PowerPoint</Application>
  <PresentationFormat>On-screen Show (16:9)</PresentationFormat>
  <Paragraphs>325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Default Decision System</dc:title>
  <dc:subject>PptxGenJS Presentation</dc:subject>
  <dc:creator>PptxGenJS</dc:creator>
  <cp:lastModifiedBy>Divyanshu Kumawat</cp:lastModifiedBy>
  <cp:revision>2</cp:revision>
  <dcterms:created xsi:type="dcterms:W3CDTF">2026-04-03T11:24:05Z</dcterms:created>
  <dcterms:modified xsi:type="dcterms:W3CDTF">2026-04-03T11:28:42Z</dcterms:modified>
</cp:coreProperties>
</file>